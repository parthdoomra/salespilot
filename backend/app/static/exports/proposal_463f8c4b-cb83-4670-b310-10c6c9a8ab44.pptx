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828800"/>
            <a:ext cx="7772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Helvetica"/>
              </a:defRPr>
            </a:pPr>
            <a:r>
              <a:t>SalesPilot AI Solution Proposal</a:t>
            </a:r>
          </a:p>
          <a:p>
            <a:pPr>
              <a:spcBef>
                <a:spcPts val="2000"/>
              </a:spcBef>
              <a:defRPr sz="2200">
                <a:solidFill>
                  <a:srgbClr val="06B6D4"/>
                </a:solidFill>
                <a:latin typeface="Helvetica"/>
              </a:defRPr>
            </a:pPr>
            <a:r>
              <a:t>Enterprise Cloud Architecture for Bonne Perfumes</a:t>
            </a:r>
          </a:p>
          <a:p>
            <a:pPr>
              <a:spcBef>
                <a:spcPts val="4000"/>
              </a:spcBef>
              <a:defRPr sz="1400">
                <a:solidFill>
                  <a:srgbClr val="94A3B8"/>
                </a:solidFill>
                <a:latin typeface="Helvetica"/>
              </a:defRPr>
            </a:pPr>
            <a:r>
              <a:t>Prepared for: Parth Doomra | Date: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6B6D4"/>
                </a:solidFill>
                <a:latin typeface="Helvetica"/>
              </a:defRPr>
            </a:pPr>
            <a:r>
              <a:t>Technical &amp; Business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Helvetica"/>
              </a:defRPr>
            </a:pPr>
            <a:r>
              <a:t>• industry: Retail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Helvetica"/>
              </a:defRPr>
            </a:pPr>
            <a:r>
              <a:t>• Implement cloud-enabled digital workflows for Retail services.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Helvetica"/>
              </a:defRPr>
            </a:pPr>
            <a:r>
              <a:t>• Optimize operational efficiencies and customer access channels.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Helvetica"/>
              </a:defRPr>
            </a:pPr>
            <a:r>
              <a:t>• Core database management and search functionality.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Helvetica"/>
              </a:defRPr>
            </a:pPr>
            <a:r>
              <a:t>• User registration, login profiles, and access authorization.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Helvetica"/>
              </a:defRPr>
            </a:pPr>
            <a:r>
              <a:t>• High availability uptime targeting 99.9% SLA.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6B6D4"/>
                </a:solidFill>
                <a:latin typeface="Helvetica"/>
              </a:defRPr>
            </a:pPr>
            <a:r>
              <a:t>Proposed Solution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000" b="1">
                <a:solidFill>
                  <a:srgbClr val="06B6D4"/>
                </a:solidFill>
                <a:latin typeface="Helvetica"/>
              </a:defRPr>
            </a:pPr>
            <a:r>
              <a:t>Frontend: GCP S3 + CloudFront CDN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Helvetica"/>
              </a:defRPr>
            </a:pPr>
            <a:r>
              <a:t>   Rationale: Enables lightning-fast page loading with Server-Side Rendering (SSR) and edge deployment.</a:t>
            </a:r>
          </a:p>
          <a:p>
            <a:pPr>
              <a:spcBef>
                <a:spcPts val="800"/>
              </a:spcBef>
              <a:defRPr sz="2000" b="1">
                <a:solidFill>
                  <a:srgbClr val="06B6D4"/>
                </a:solidFill>
                <a:latin typeface="Helvetica"/>
              </a:defRPr>
            </a:pPr>
            <a:r>
              <a:t>Backend: Google Cloud Run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Helvetica"/>
              </a:defRPr>
            </a:pPr>
            <a:r>
              <a:t>   Rationale: Stateless container hosting with auto-scaling to absorb peak request traffic seamlessly.</a:t>
            </a:r>
          </a:p>
          <a:p>
            <a:pPr>
              <a:spcBef>
                <a:spcPts val="800"/>
              </a:spcBef>
              <a:defRPr sz="2000" b="1">
                <a:solidFill>
                  <a:srgbClr val="06B6D4"/>
                </a:solidFill>
                <a:latin typeface="Helvetica"/>
              </a:defRPr>
            </a:pPr>
            <a:r>
              <a:t>Database: Google Cloud SQL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Helvetica"/>
              </a:defRPr>
            </a:pPr>
            <a:r>
              <a:t>   Rationale: ACID compliance for critical transactions, with built-in point-in-time backups.</a:t>
            </a:r>
          </a:p>
          <a:p>
            <a:pPr>
              <a:spcBef>
                <a:spcPts val="800"/>
              </a:spcBef>
              <a:defRPr sz="2000" b="1">
                <a:solidFill>
                  <a:srgbClr val="06B6D4"/>
                </a:solidFill>
                <a:latin typeface="Helvetica"/>
              </a:defRPr>
            </a:pPr>
            <a:r>
              <a:t>Authentication: Firebase Authentication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Helvetica"/>
              </a:defRPr>
            </a:pPr>
            <a:r>
              <a:t>   Rationale: Enterprise-grade federated identity management, multi-factor login support, and seamless scaling.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6B6D4"/>
                </a:solidFill>
                <a:latin typeface="Helvetica"/>
              </a:defRPr>
            </a:pPr>
            <a:r>
              <a:t>Financial Estimate &amp; BOM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94A3B8"/>
                </a:solidFill>
                <a:latin typeface="Helvetica"/>
              </a:defRPr>
            </a:pPr>
            <a:r>
              <a:t>Monthly Investment (INR)</a:t>
            </a:r>
          </a:p>
          <a:p>
            <a:pPr>
              <a:spcAft>
                <a:spcPts val="2400"/>
              </a:spcAft>
              <a:defRPr sz="4000" b="1">
                <a:solidFill>
                  <a:srgbClr val="FFFFFF"/>
                </a:solidFill>
                <a:latin typeface="Helvetica"/>
              </a:defRPr>
            </a:pPr>
            <a:r>
              <a:t>₹1,194.85</a:t>
            </a:r>
          </a:p>
          <a:p>
            <a:pPr>
              <a:defRPr sz="1800">
                <a:solidFill>
                  <a:srgbClr val="94A3B8"/>
                </a:solidFill>
                <a:latin typeface="Helvetica"/>
              </a:defRPr>
            </a:pPr>
            <a:r>
              <a:t>Annualized Total (INR)</a:t>
            </a:r>
          </a:p>
          <a:p>
            <a:pPr>
              <a:defRPr sz="3200" b="1">
                <a:solidFill>
                  <a:srgbClr val="06B6D4"/>
                </a:solidFill>
                <a:latin typeface="Helvetica"/>
              </a:defRPr>
            </a:pPr>
            <a:r>
              <a:t>₹14,338.18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82880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  <a:latin typeface="Helvetica"/>
              </a:defRPr>
            </a:pPr>
            <a:r>
              <a:t>• Compute: ₹560.64 / mo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  <a:latin typeface="Helvetica"/>
              </a:defRPr>
            </a:pPr>
            <a:r>
              <a:t>• Database: ₹150.0 / mo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  <a:latin typeface="Helvetica"/>
              </a:defRPr>
            </a:pPr>
            <a:r>
              <a:t>• Storage: ₹1.84 / mo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  <a:latin typeface="Helvetica"/>
              </a:defRPr>
            </a:pPr>
            <a:r>
              <a:t>• Networking: ₹435.0 / mo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  <a:latin typeface="Helvetica"/>
              </a:defRPr>
            </a:pPr>
            <a:r>
              <a:t>• Cache: ₹32.0 / mo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  <a:latin typeface="Helvetica"/>
              </a:defRPr>
            </a:pPr>
            <a:r>
              <a:t>• Backup: ₹0.37 / mo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  <a:latin typeface="Helvetica"/>
              </a:defRPr>
            </a:pPr>
            <a:r>
              <a:t>• Ai: ₹15.0 / mo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6B6D4"/>
                </a:solidFill>
                <a:latin typeface="Helvetica"/>
              </a:defRPr>
            </a:pPr>
            <a:r>
              <a:t>Infrastructure Resilience &amp; Recovery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400" b="1">
                <a:solidFill>
                  <a:srgbClr val="06B6D4"/>
                </a:solidFill>
                <a:latin typeface="Helvetica"/>
              </a:defRPr>
            </a:pPr>
            <a:r>
              <a:t>Resilience Score: 85 / 100</a:t>
            </a:r>
          </a:p>
          <a:p>
            <a:pPr>
              <a:defRPr sz="1800" b="1">
                <a:solidFill>
                  <a:srgbClr val="FFFFFF"/>
                </a:solidFill>
                <a:latin typeface="Helvetica"/>
              </a:defRPr>
            </a:pPr>
            <a:r>
              <a:t>Scenario: Azure Region Failure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Helvetica"/>
              </a:defRPr>
            </a:pPr>
            <a:r>
              <a:t>   Impact: Complete service blackout for all region-bound clients. | RTO: 4 hours | RPO: 1 hour</a:t>
            </a:r>
          </a:p>
          <a:p>
            <a:pPr>
              <a:defRPr sz="1800" b="1">
                <a:solidFill>
                  <a:srgbClr val="FFFFFF"/>
                </a:solidFill>
                <a:latin typeface="Helvetica"/>
              </a:defRPr>
            </a:pPr>
            <a:r>
              <a:t>Scenario: Database Failure / Corruption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Helvetica"/>
              </a:defRPr>
            </a:pPr>
            <a:r>
              <a:t>   Impact: Core write operations halt, leading to partial service outage. | RTO: 10 minutes | RPO: 1 minute</a:t>
            </a:r>
          </a:p>
          <a:p>
            <a:pPr>
              <a:defRPr sz="1800" b="1">
                <a:solidFill>
                  <a:srgbClr val="FFFFFF"/>
                </a:solidFill>
                <a:latin typeface="Helvetica"/>
              </a:defRPr>
            </a:pPr>
            <a:r>
              <a:t>Scenario: VM Crash (Compute Outage)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Helvetica"/>
              </a:defRPr>
            </a:pPr>
            <a:r>
              <a:t>   Impact: Temporary server errors (HTTP 502/503) for active users. | RTO: 2 minutes | RPO: None (Zero data loss)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6B6D4"/>
                </a:solidFill>
                <a:latin typeface="Helvetica"/>
              </a:defRPr>
            </a:pPr>
            <a:r>
              <a:t>Architecture Optimization Suggestions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 b="1">
                <a:solidFill>
                  <a:srgbClr val="06B6D4"/>
                </a:solidFill>
                <a:latin typeface="Helvetica"/>
              </a:defRPr>
            </a:pPr>
            <a:r>
              <a:t>Original Cost: ₹1,194.85 | Optimized Cost: ₹1,194.85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