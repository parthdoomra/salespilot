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SalesPilot AI Solution Proposal</a:t>
            </a:r>
          </a:p>
          <a:p>
            <a:pPr>
              <a:spcBef>
                <a:spcPts val="2000"/>
              </a:spcBef>
              <a:defRPr sz="2200">
                <a:solidFill>
                  <a:srgbClr val="06B6D4"/>
                </a:solidFill>
                <a:latin typeface="Helvetica"/>
              </a:defRPr>
            </a:pPr>
            <a:r>
              <a:t>Enterprise Cloud Architecture for Bonne Perfumes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Helvetica"/>
              </a:defRPr>
            </a:pPr>
            <a:r>
              <a:t>Prepared for: Parth | 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Technical &amp; Business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industry: IT Services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preferredCloud: AWS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usersCount: 5000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storageGb: 100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SOC2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Proposed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Frontend: AWS S3 + CloudFront CDN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Enables lightning-fast page loading with Server-Side Rendering (SSR) and edge deployment.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Backend: AWS App Service / Elastic Beanstalk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Stateless container hosting with auto-scaling to absorb peak request traffic seamlessly.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Database: Amazon RDS PostgreSQL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ACID compliance for critical transactions, with built-in point-in-time backups.</a:t>
            </a:r>
          </a:p>
          <a:p>
            <a:pPr>
              <a:spcBef>
                <a:spcPts val="800"/>
              </a:spcBef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Authentication: Firebase Authentication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Helvetica"/>
              </a:defRPr>
            </a:pPr>
            <a:r>
              <a:t>   Rationale: Enterprise-grade federated identity management, multi-factor login support, and seamless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Financial Estimate &amp;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Monthly Investment</a:t>
            </a:r>
          </a:p>
          <a:p>
            <a:pPr>
              <a:spcAft>
                <a:spcPts val="2400"/>
              </a:spcAft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$366.87</a:t>
            </a:r>
          </a:p>
          <a:p>
            <a:pPr>
              <a:defRPr sz="1800">
                <a:solidFill>
                  <a:srgbClr val="94A3B8"/>
                </a:solidFill>
                <a:latin typeface="Helvetica"/>
              </a:defRPr>
            </a:pPr>
            <a:r>
              <a:t>Annualized Total</a:t>
            </a:r>
          </a:p>
          <a:p>
            <a:pPr>
              <a:defRPr sz="3200" b="1">
                <a:solidFill>
                  <a:srgbClr val="06B6D4"/>
                </a:solidFill>
                <a:latin typeface="Helvetica"/>
              </a:defRPr>
            </a:pPr>
            <a:r>
              <a:t>$4,402.42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Compute: $140.16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Database: $150.0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Storage: $1.84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Networking: $43.5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Cache: $16.0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Backup: $0.37 / mo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Helvetica"/>
              </a:defRPr>
            </a:pPr>
            <a:r>
              <a:t>• Ai: $15.0 / 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Infrastructure Resilience &amp;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06B6D4"/>
                </a:solidFill>
                <a:latin typeface="Helvetica"/>
              </a:defRPr>
            </a:pPr>
            <a:r>
              <a:t>Resilience Score: 85 / 100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Azure Region Failure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Complete service blackout for all region-bound clients. | RTO: 4 hours | RPO: 1 hour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Database Failure / Corruption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Core write operations halt, leading to partial service outage. | RTO: 10 minutes | RPO: 1 minute</a:t>
            </a:r>
          </a:p>
          <a:p>
            <a:pPr>
              <a:defRPr sz="1800" b="1">
                <a:solidFill>
                  <a:srgbClr val="FFFFFF"/>
                </a:solidFill>
                <a:latin typeface="Helvetica"/>
              </a:defRPr>
            </a:pPr>
            <a:r>
              <a:t>Scenario: VM Crash (Compute Outage)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 Impact: Temporary server errors (HTTP 502/503) for active users. | RTO: 2 minutes | RPO: None (Zero data loss)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Helvetica"/>
              </a:defRPr>
            </a:pPr>
            <a:r>
              <a:t>Architecture Optimization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6B6D4"/>
                </a:solidFill>
                <a:latin typeface="Helvetica"/>
              </a:defRPr>
            </a:pPr>
            <a:r>
              <a:t>Original Cost: $366.87 | Optimized Cost: $258.31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Resize standard compute nodes and apply VM Auto-Shutdown schedules during off-peak hours (10 PM to 6 AM).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$56.06/mo | Trade-offs: Slightly longer startup latency for developers working in night shifts.</a:t>
            </a:r>
          </a:p>
          <a:p>
            <a:pPr>
              <a:defRPr sz="1800">
                <a:solidFill>
                  <a:srgbClr val="FFFFFF"/>
                </a:solidFill>
                <a:latin typeface="Helvetica"/>
              </a:defRPr>
            </a:pPr>
            <a:r>
              <a:t>• Optimization: Shift from Multi-Region Geo-Replication to Single-Region LRS with periodic read-replicas.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Helvetica"/>
              </a:defRPr>
            </a:pPr>
            <a:r>
              <a:t>  Savings: $52.5/mo | Trade-offs: Increased Recovery Point Objective (RPO) from 5 minutes to 1 hour in region disaster.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