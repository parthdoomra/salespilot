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Helvetica"/>
              </a:defRPr>
            </a:pPr>
            <a:r>
              <a:t>SalesPilot AI Solution Proposal</a:t>
            </a:r>
          </a:p>
          <a:p>
            <a:pPr>
              <a:spcBef>
                <a:spcPts val="2000"/>
              </a:spcBef>
              <a:defRPr sz="2200">
                <a:solidFill>
                  <a:srgbClr val="06B6D4"/>
                </a:solidFill>
                <a:latin typeface="Helvetica"/>
              </a:defRPr>
            </a:pPr>
            <a:r>
              <a:t>Enterprise Cloud Architecture for Paradise Immigration</a:t>
            </a:r>
          </a:p>
          <a:p>
            <a:pPr>
              <a:spcBef>
                <a:spcPts val="4000"/>
              </a:spcBef>
              <a:defRPr sz="1400">
                <a:solidFill>
                  <a:srgbClr val="94A3B8"/>
                </a:solidFill>
                <a:latin typeface="Helvetica"/>
              </a:defRPr>
            </a:pPr>
            <a:r>
              <a:t>Prepared for: Pranav | Date: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Technical &amp; Business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industry: Retail / E-Commerce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Increase online sales.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Improve customer experience.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Browse products and search items.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Add products to a shopping cart and place orders.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Responsive website and mobile applications (iOS/Android).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Proposed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Frontend: GCP S3 + CloudFront CDN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Helvetica"/>
              </a:defRPr>
            </a:pPr>
            <a:r>
              <a:t>   Rationale: Enables lightning-fast page loading with Server-Side Rendering (SSR) and edge deployment.</a:t>
            </a:r>
          </a:p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Backend: Google Cloud Run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Helvetica"/>
              </a:defRPr>
            </a:pPr>
            <a:r>
              <a:t>   Rationale: Stateless container hosting with auto-scaling to absorb peak request traffic seamlessly.</a:t>
            </a:r>
          </a:p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Database: Google Cloud SQL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Helvetica"/>
              </a:defRPr>
            </a:pPr>
            <a:r>
              <a:t>   Rationale: ACID compliance for critical transactions, with built-in point-in-time backups.</a:t>
            </a:r>
          </a:p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Authentication: Firebase Authentication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Helvetica"/>
              </a:defRPr>
            </a:pPr>
            <a:r>
              <a:t>   Rationale: Enterprise-grade federated identity management, multi-factor login support, and seamless scaling.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Financial Estimate &amp; 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Helvetica"/>
              </a:defRPr>
            </a:pPr>
            <a:r>
              <a:t>Monthly Investment</a:t>
            </a:r>
          </a:p>
          <a:p>
            <a:pPr>
              <a:spcAft>
                <a:spcPts val="2400"/>
              </a:spcAft>
              <a:defRPr sz="4000" b="1">
                <a:solidFill>
                  <a:srgbClr val="FFFFFF"/>
                </a:solidFill>
                <a:latin typeface="Helvetica"/>
              </a:defRPr>
            </a:pPr>
            <a:r>
              <a:t>$870,000,759.85</a:t>
            </a:r>
          </a:p>
          <a:p>
            <a:pPr>
              <a:defRPr sz="1800">
                <a:solidFill>
                  <a:srgbClr val="94A3B8"/>
                </a:solidFill>
                <a:latin typeface="Helvetica"/>
              </a:defRPr>
            </a:pPr>
            <a:r>
              <a:t>Annualized Total</a:t>
            </a:r>
          </a:p>
          <a:p>
            <a:pPr>
              <a:defRPr sz="3200" b="1">
                <a:solidFill>
                  <a:srgbClr val="06B6D4"/>
                </a:solidFill>
                <a:latin typeface="Helvetica"/>
              </a:defRPr>
            </a:pPr>
            <a:r>
              <a:t>$10,440,009,118.18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Compute: $560.64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Database: $150.0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Storage: $1.84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Networking: $870,000,000.0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Cache: $32.0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Backup: $0.37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Ai: $15.0 / 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Infrastructure Resilience &amp;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06B6D4"/>
                </a:solidFill>
                <a:latin typeface="Helvetica"/>
              </a:defRPr>
            </a:pPr>
            <a:r>
              <a:t>Resilience Score: 85 / 100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Scenario: Azure Region Failure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 Impact: Complete service blackout for all region-bound clients. | RTO: 4 hours | RPO: 1 hour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Scenario: Database Failure / Corruption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 Impact: Core write operations halt, leading to partial service outage. | RTO: 10 minutes | RPO: 1 minute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Scenario: VM Crash (Compute Outage)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 Impact: Temporary server errors (HTTP 502/503) for active users. | RTO: 2 minutes | RPO: None (Zero data loss)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Architecture Optimization Suggestions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Original Cost: $870,000,759.85 | Optimized Cost: $870,000,483.09</a:t>
            </a:r>
          </a:p>
          <a:p>
            <a:pPr>
              <a:defRPr sz="1800">
                <a:solidFill>
                  <a:srgbClr val="FFFFFF"/>
                </a:solidFill>
                <a:latin typeface="Helvetica"/>
              </a:defRPr>
            </a:pPr>
            <a:r>
              <a:t>• Optimization: Resize standard compute nodes and apply VM Auto-Shutdown schedules during off-peak hours (10 PM to 6 AM).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Savings: $224.26/mo | Trade-offs: Slightly longer startup latency for developers working in night shifts.</a:t>
            </a:r>
          </a:p>
          <a:p>
            <a:pPr>
              <a:defRPr sz="1800">
                <a:solidFill>
                  <a:srgbClr val="FFFFFF"/>
                </a:solidFill>
                <a:latin typeface="Helvetica"/>
              </a:defRPr>
            </a:pPr>
            <a:r>
              <a:t>• Optimization: Shift from Multi-Region Geo-Replication to Single-Region LRS with periodic read-replicas.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Savings: $52.5/mo | Trade-offs: Increased Recovery Point Objective (RPO) from 5 minutes to 1 hour in region disaster.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